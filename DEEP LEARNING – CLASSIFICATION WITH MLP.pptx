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6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777240" y="1005840"/>
            <a:ext cx="23774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2026-I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426464"/>
            <a:ext cx="7955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Clasificacion de</a:t>
            </a:r>
            <a:endParaRPr lang="en-US" sz="3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Diagnosticos Medicos</a:t>
            </a:r>
            <a:endParaRPr lang="en-US" sz="3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MLP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40156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Examenes de Laboratorio EsSalud · Mayo–Noviembre 2024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8561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Militar Nueva Granada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1330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JUAN CAMILO CUMBE-JUAN ESTEBAN VELEZ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7AAD8B3-8762-AAE8-6623-64691E033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267" y="672084"/>
            <a:ext cx="2939384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47548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47472" y="1051560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17957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63,799 registros de EsSalud, 5 diagnosticos CIE-10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50008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47548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7472" y="2350008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47802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Preparacion de Datos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80720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outliers, codificacion y normalizacion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648456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47472" y="3648456"/>
            <a:ext cx="47548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47472" y="3648456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77647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MLP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10565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piramidal, criterios y regularizacion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82312" y="1051560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782312" y="1051560"/>
            <a:ext cx="47548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782312" y="1051560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17957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50876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Bayesiana con Keras Tuner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2312" y="2350008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782312" y="2350008"/>
            <a:ext cx="47548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782312" y="2350008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47802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280720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loss y generalizacion sobre test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82312" y="3648456"/>
            <a:ext cx="42062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782312" y="3648456"/>
            <a:ext cx="475488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782312" y="3648456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77647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4105656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 y posibles mejoras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EsSalud · Consulta externa · Patologias metabolicas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1920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1920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63,799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" y="1856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en el 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59152" y="1051560"/>
            <a:ext cx="1920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359152" y="1051560"/>
            <a:ext cx="1920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359152" y="11612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359152" y="1856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originales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70832" y="1051560"/>
            <a:ext cx="1920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370832" y="1051560"/>
            <a:ext cx="19202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370832" y="11612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370832" y="1856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usadas en el modelo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82512" y="1051560"/>
            <a:ext cx="19202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382512" y="1051560"/>
            <a:ext cx="19202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382512" y="116128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382512" y="18562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Diagnosticos CIE-10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487168"/>
          <a:ext cx="8430768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E03.9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Hipotiroidismo, no especificado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26,004 (40.8%)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E66.9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Obesidad, no especificada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19,688 (30.9%)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E66.3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Sobrepeso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9,601 (15.1%)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Obesidad por exceso de calorias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7,971 (12.5%)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Otros tipos de obesidad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(0.7%)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de Diagnosticos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desbalance: E03.9 domina con 40.8% de los datos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51560"/>
            <a:ext cx="8430768" cy="33192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4462272"/>
            <a:ext cx="8430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clases con menos de 50 registros (Z71.3, E66.2, E66.1, E23.6) fueron eliminadas. Representaban menos del 0.1% del total.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Preparacion de los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pasos clave antes de entrenar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420624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4206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75488" y="11795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Limpieza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527048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10 columnas: identificadores (ID_PACIENTE, ID_MEDICO), columnas con un solo valor (AREA_HOSPITALARIA), fechas crudas y DIAGNOSTICO (evitar fuga de datos).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82312" y="1051560"/>
            <a:ext cx="420624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82312" y="1051560"/>
            <a:ext cx="4206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910328" y="11795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Outliers con Capping IQR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0328" y="1527048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RESULTADO_1/2 llegan a 1000 mg/dL. En vez de borrarlos, limitamos los valores al rango [Q1-1.5*IQR, Q3+1.5*IQR]. Conservamos todos los registros.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990088"/>
            <a:ext cx="420624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47472" y="2990088"/>
            <a:ext cx="42062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5488" y="3118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Codificacion LabelEncoder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" y="3465576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columnas de texto convertidas a numeros enteros. La variable objetivo COD_DIAG quedo como TARGET (0 al 4). Se guardaron los encoders para reproducibilidad.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82312" y="2990088"/>
            <a:ext cx="420624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782312" y="2990088"/>
            <a:ext cx="42062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910328" y="31181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Normalizacion StandardScaler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10328" y="3465576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Media=0, desviacion=1 en todas las features. El scaler se ajusto SOLO con datos de train para no contaminar validacion y test.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las Variables Numericas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negros son los valores extremos antes del tratamiento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51560"/>
            <a:ext cx="8430768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4864608"/>
            <a:ext cx="8430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RESULTADO_1 y RESULTADO_2 (glucosa y trigliceridos) llegan hasta 1000 mg/dL. No son errores — son pacientes con enfermedades muy severas. Tratados con capping IQR.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del 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Estratificada (stratify=y) para mantener proporciones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72491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272491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572768"/>
            <a:ext cx="2724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" y="224942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44,594 pacientes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56032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estos datos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1051560"/>
            <a:ext cx="272491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73552" y="1051560"/>
            <a:ext cx="272491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73552" y="105156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3552" y="1572768"/>
            <a:ext cx="2724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273552" y="224942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9,556 pacientes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4992" y="256032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y ajustar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configuracion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1051560"/>
            <a:ext cx="272491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199632" y="1051560"/>
            <a:ext cx="2724912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99632" y="1051560"/>
            <a:ext cx="2724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9632" y="1572768"/>
            <a:ext cx="2724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99632" y="2249424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9,557 pacientes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256032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al final.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generalizacion</a:t>
            </a:r>
            <a:endParaRPr lang="en-US" sz="11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3657600"/>
            <a:ext cx="8430768" cy="11704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Modelo MLP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piramidal: 17 entradas → 256 → 128 → 64 → 32 → 5 salidas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126187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1261872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1051560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350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66420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09344" y="1545336"/>
            <a:ext cx="10972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719072" y="1051560"/>
            <a:ext cx="157276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719072" y="1051560"/>
            <a:ext cx="157276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719072" y="10515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 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55648" y="1335024"/>
            <a:ext cx="1499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55648" y="1664208"/>
            <a:ext cx="1499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1545336"/>
            <a:ext cx="10972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401568" y="1051560"/>
            <a:ext cx="14447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401568" y="1051560"/>
            <a:ext cx="14447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401568" y="1051560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38144" y="13350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38144" y="16642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545336"/>
            <a:ext cx="10972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956048" y="1051560"/>
            <a:ext cx="1316736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956048" y="1051560"/>
            <a:ext cx="1316736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56048" y="1051560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 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92624" y="1335024"/>
            <a:ext cx="1243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92624" y="1664208"/>
            <a:ext cx="1243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72784" y="1545336"/>
            <a:ext cx="10972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382512" y="1051560"/>
            <a:ext cx="118872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6382512" y="1051560"/>
            <a:ext cx="11887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382512" y="1051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 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19088" y="1335024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19088" y="1664208"/>
            <a:ext cx="1115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571232" y="1545336"/>
            <a:ext cx="10972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680960" y="1051560"/>
            <a:ext cx="1060704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7680960" y="1051560"/>
            <a:ext cx="1060704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7680960" y="1051560"/>
            <a:ext cx="1060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717536" y="1335024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717536" y="1664208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7472" y="2231136"/>
            <a:ext cx="20299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347472" y="2231136"/>
            <a:ext cx="20299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347472" y="2231136"/>
            <a:ext cx="128016" cy="2651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548640" y="23042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Normal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8640" y="2670048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Inicializacion ideal para ReLU. Los pesos arrancan en el rango correcto para que el aprendizaje sea estable desde el inicio.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23744" y="2231136"/>
            <a:ext cx="20299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2523744" y="2231136"/>
            <a:ext cx="20299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2523744" y="2231136"/>
            <a:ext cx="128016" cy="2651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2724912" y="23042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724912" y="2670048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si el valor es positivo, apaga si es negativo. Sin saturacion en extremos, gradientes estables, entrenamiento rapido.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0016" y="2231136"/>
            <a:ext cx="20299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4700016" y="2231136"/>
            <a:ext cx="2029968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4700016" y="2231136"/>
            <a:ext cx="128016" cy="2651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4901184" y="23042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901184" y="2670048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las 5 salidas en probabilidades que suman 100%. El diagnostico con mayor probabilidad es la prediccion final.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876288" y="2231136"/>
            <a:ext cx="20299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6876288" y="2231136"/>
            <a:ext cx="202996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Shape 56"/>
          <p:cNvSpPr/>
          <p:nvPr/>
        </p:nvSpPr>
        <p:spPr>
          <a:xfrm>
            <a:off x="6876288" y="2231136"/>
            <a:ext cx="128016" cy="2651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7077456" y="2304288"/>
            <a:ext cx="17556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077456" y="2670048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 neuronas al azar (30%/20%). Obliga a aprender representaciones robustas. Por eso val_accuracy &gt; train_accuracy.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Base: Curvas de Aprendizaje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epocas · Adam lr=0.001 · batch=64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51560"/>
            <a:ext cx="8430768" cy="3090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251960"/>
            <a:ext cx="2697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347472" y="4251960"/>
            <a:ext cx="26974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38912" y="4325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supera al train: el Dropout funciona correctamente.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82112" y="4251960"/>
            <a:ext cx="2697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182112" y="4251960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273552" y="4325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convergen sin divergencia: sin overfitting en ninguna epoca.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16752" y="4251960"/>
            <a:ext cx="2697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6016752" y="4251960"/>
            <a:ext cx="26974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108192" y="432511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final: ~64.67%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 de Hiperparametros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Busqueda Bayesiana · Keras Tuner · 10 trials · 20 epocas/trial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47472" y="1051560"/>
            <a:ext cx="8430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busqueda Bayesiana aprende de cada trial para decidir cual combinacion probar a continuacion — mucho mas eficiente que Grid Search.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536192"/>
          <a:ext cx="8430768" cy="33832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Hiperparametro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Opciones exploradas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optimo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Numero de capas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3 ·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capas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Neuronas por capa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· 128 · 256 · 512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· 128 · 64 · 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Activacion ocultas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 · Tanh · ELU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Normalization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Activada · Desactivada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· 20% · 30% · 40% ·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(capas 1-2) / 20% (3-4)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· 0.001 · 0.0005 · 0.0001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· RMSprop · SGD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· 64 · 128 · 256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(val accuracy 63.3%)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 Busqueda de Hiperparametros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51560"/>
            <a:ext cx="8430768" cy="2807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3977640"/>
            <a:ext cx="26974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47472" y="397764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347472" y="405993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47472" y="44622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optimo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(mayor val accuracy)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82112" y="3977640"/>
            <a:ext cx="26974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182112" y="397764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182112" y="405993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182112" y="44622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vs modelo 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val accuracy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16752" y="3977640"/>
            <a:ext cx="26974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6016752" y="3977640"/>
            <a:ext cx="269748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016752" y="4059936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016752" y="44622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Epocas entrenamiento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Optimizado: 150 Epocas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configuracion encontrada por Keras Tuner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51560"/>
            <a:ext cx="8430768" cy="2999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16052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347472" y="4160520"/>
            <a:ext cx="41605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47472" y="427024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65.67%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47472" y="49651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final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17720" y="4160520"/>
            <a:ext cx="4160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617720" y="4160520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4617720" y="427024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0.8413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4617720" y="49651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final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Finales de Generalizacion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sobre conjunto de Test — datos nunca vistos por el modelo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7249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272491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" y="18562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63824" y="1051560"/>
            <a:ext cx="27249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63824" y="1051560"/>
            <a:ext cx="272491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163824" y="1161288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65.67%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163824" y="18562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0176" y="1051560"/>
            <a:ext cx="2724912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5980176" y="1051560"/>
            <a:ext cx="272491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980176" y="1161288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65.21%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980176" y="18562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487168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47472" y="2487168"/>
            <a:ext cx="2697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47472" y="2560320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Loss: 0.7961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63824" y="2487168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163824" y="2487168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163824" y="2560320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Loss: 0.8413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80176" y="2487168"/>
            <a:ext cx="26974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980176" y="2487168"/>
            <a:ext cx="2697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980176" y="2560320"/>
            <a:ext cx="2697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Loss: 0.8433</a:t>
            </a:r>
            <a:endParaRPr lang="en-US" sz="15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3218688"/>
            <a:ext cx="8430768" cy="139903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347472" y="4681728"/>
            <a:ext cx="843076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347472" y="4773168"/>
            <a:ext cx="8430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Test - Val = 0.46 puntos → El modelo generaliza correctamente sin haber memorizado los datos.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Generalizacion: Train · Val · Test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linea verde punteada es el resultado en test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51560"/>
            <a:ext cx="8430768" cy="2999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4160520"/>
            <a:ext cx="8430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linea del test se superpone casi exactamente con la curva de validacion. Esto confirma que el modelo aprendio patrones reales y no memorizo los datos de entrenamiento.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" y="4681728"/>
            <a:ext cx="843076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 por Clase: Matriz de Confusion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9,557 pacientes del conjunto de test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051560"/>
            <a:ext cx="374904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06240" y="1051560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4206240" y="1051560"/>
            <a:ext cx="128016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389120" y="1088136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E03.9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30368" y="10881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Hipotiroidismo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87184" y="1088136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389120" y="139903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3,113 / 3,901 aciertos · La mejor clasificada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6240" y="1819656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206240" y="1819656"/>
            <a:ext cx="128016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4389120" y="1856232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E66.9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30368" y="1856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Obesidad no especif.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87184" y="1856232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63.9%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389120" y="216712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1,888 / 2,954 aciertos · Se confunde con E03.9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206240" y="2587752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4206240" y="2587752"/>
            <a:ext cx="128016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4389120" y="2624328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E66.3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30368" y="2624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Sobrepeso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87184" y="2624328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389120" y="293522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725 / 1,441 aciertos · Perfiles muy similares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206240" y="3355848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4206240" y="3355848"/>
            <a:ext cx="128016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4389120" y="3392424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E66.0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30368" y="339242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Obesidad exceso kcal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87184" y="339242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389120" y="370332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482 / 1,195 aciertos · Confusion con E03.9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206240" y="4123944"/>
            <a:ext cx="45720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4206240" y="4123944"/>
            <a:ext cx="128016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4389120" y="4160520"/>
            <a:ext cx="804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E66.8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230368" y="4160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tipos obesidad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187184" y="4160520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389120" y="447141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66 aciertos · Muy pocos datos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206240" y="4956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accuracy en clases con mas datos (E03.9). Menor en clases pequeñas (E66.8 con solo 444 registros).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 Modelo Alcanza 65%?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 las limitaciones del problema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877824"/>
            <a:ext cx="84307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4206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4206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75488" y="11795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Diagnosticos muy similares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545336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son enfermedades metabolicas. Los valores de glucosa y trigliceridos se superponen entre clases, haciendo dificil separarlas.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82312" y="1051560"/>
            <a:ext cx="4206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82312" y="1051560"/>
            <a:ext cx="42062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910328" y="117957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Desbalance de clases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545336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E03.9: 26,004 pacientes (40.8%) vs E66.8: 444 (0.7%). El modelo aprende mejor los diagnosticos frecuentes.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3017520"/>
            <a:ext cx="4206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47472" y="3017520"/>
            <a:ext cx="4206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5488" y="3145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Variables limitadas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" y="3511296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17 features. Un medico usa mucha mas informacion: IMC, presion arterial, sintomas, historial... Con mas datos el modelo superaria el 80%.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82312" y="3017520"/>
            <a:ext cx="4206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782312" y="3017520"/>
            <a:ext cx="420624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910328" y="3145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Sin overfitting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3511296"/>
            <a:ext cx="39319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(67.24%) - Test (65.21%) = 2 puntos. El modelo esta bien regularizado y generaliza correctamente.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20116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969264"/>
            <a:ext cx="274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31520" y="96926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969264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de Deep Learning: desde limpiar datos hasta evaluar en produccion con datos nuevos.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274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45920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preparacion fue el paso mas critico: columnas inutiles, outliers, codificacion y normalizacion.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322576"/>
            <a:ext cx="274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31520" y="2322576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322576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MLP piramidal con Dropout y BatchNorm: sin overfitting en ninguna epoca.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999232"/>
            <a:ext cx="274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31520" y="2999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999232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Tuner Bayesiano: 10 trials suficientes para mejorar el modelo base en ~1 punto de accuracy.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75888"/>
            <a:ext cx="2743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31520" y="3675888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675888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65.21% · Solo 0.46 puntos menos que validacion → El modelo generaliza correctamente.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352544"/>
            <a:ext cx="274320" cy="34747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31520" y="435254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352544"/>
            <a:ext cx="7680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mas variables clinicas (IMC, presion, historial) el rendimiento podria superar el 80%.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7955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— Clasificacion de Diagnosticos Medicos con MLP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Python · TensorFlow · Keras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52928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Keras Tuner · Scikit-learn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74336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Pandas · NumPy · Matplotlib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95744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Google Colab GPU T4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Militar Nueva Granada · Deep Learning 2026-I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1326</Words>
  <Application>Microsoft Office PowerPoint</Application>
  <PresentationFormat>Presentación en pantalla (16:9)</PresentationFormat>
  <Paragraphs>252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1 MLP - Diagnosticos Medicos</dc:title>
  <dc:subject>PptxGenJS Presentation</dc:subject>
  <dc:creator>PptxGenJS</dc:creator>
  <cp:lastModifiedBy>@JUAN K</cp:lastModifiedBy>
  <cp:revision>2</cp:revision>
  <dcterms:created xsi:type="dcterms:W3CDTF">2026-02-23T01:57:06Z</dcterms:created>
  <dcterms:modified xsi:type="dcterms:W3CDTF">2026-02-23T02:13:07Z</dcterms:modified>
</cp:coreProperties>
</file>